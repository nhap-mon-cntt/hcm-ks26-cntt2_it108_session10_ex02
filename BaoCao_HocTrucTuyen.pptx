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ới thiệu" id="{3667af9b-d514-c80d-803b-b35e12c278d6}">
          <p14:sldIdLst>
            <p14:sldId id="256"/>
          </p14:sldIdLst>
        </p14:section>
        <p14:section name="Lộ trình" id="{8beb7f64-7027-6f16-f7dd-0d7ffb0b6890}">
          <p14:sldIdLst>
            <p14:sldId id="25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Học viên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T12/2023</c:v>
                  </c:pt>
                  <c:pt idx="1">
                    <c:v>T01/2024</c:v>
                  </c:pt>
                  <c:pt idx="2">
                    <c:v>T02/2024</c:v>
                  </c:pt>
                  <c:pt idx="3">
                    <c:v>T03/2024</c:v>
                  </c:pt>
                  <c:pt idx="4">
                    <c:v>T04/2024</c:v>
                  </c:pt>
                  <c:pt idx="5">
                    <c:v>T05/2024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1200</c:v>
                </c:pt>
                <c:pt idx="1">
                  <c:v>2300</c:v>
                </c:pt>
                <c:pt idx="2">
                  <c:v>3800</c:v>
                </c:pt>
                <c:pt idx="3">
                  <c:v>5400</c:v>
                </c:pt>
                <c:pt idx="4">
                  <c:v>7100</c:v>
                </c:pt>
                <c:pt idx="5">
                  <c:v>9200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majorGridlines>
          <c:spPr>
            <a:ln w="6350" cap="flat">
              <a:solidFill>
                <a:srgbClr val="3A527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FFFFFF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Nguồn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97316"/>
              </a:solidFill>
              <a:ln w="12700" cap="flat">
                <a:solidFill>
                  <a:srgbClr val="0B1F3A"/>
                </a:solidFill>
                <a:prstDash val="solid"/>
                <a:round/>
              </a:ln>
              <a:effectLst/>
            </c:spPr>
          </c:dPt>
          <c:dPt>
            <c:idx val="1"/>
            <c:bubble3D val="0"/>
            <c:spPr>
              <a:solidFill>
                <a:srgbClr val="38BDF8"/>
              </a:solidFill>
              <a:ln w="12700" cap="flat">
                <a:solidFill>
                  <a:srgbClr val="0B1F3A"/>
                </a:solidFill>
                <a:prstDash val="solid"/>
                <a:round/>
              </a:ln>
              <a:effectLst/>
            </c:spPr>
          </c:dPt>
          <c:dPt>
            <c:idx val="2"/>
            <c:bubble3D val="0"/>
            <c:spPr>
              <a:solidFill>
                <a:srgbClr val="86EFAC"/>
              </a:solidFill>
              <a:ln w="12700" cap="flat">
                <a:solidFill>
                  <a:srgbClr val="0B1F3A"/>
                </a:solidFill>
                <a:prstDash val="solid"/>
                <a:round/>
              </a:ln>
              <a:effectLst/>
            </c:spPr>
          </c:dPt>
          <c:dPt>
            <c:idx val="3"/>
            <c:bubble3D val="0"/>
            <c:spPr>
              <a:solidFill>
                <a:srgbClr val="FDE68A"/>
              </a:solidFill>
              <a:ln w="12700" cap="flat">
                <a:solidFill>
                  <a:srgbClr val="0B1F3A"/>
                </a:solidFill>
                <a:prstDash val="solid"/>
                <a:round/>
              </a:ln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B1F3A"/>
                      </a:solidFill>
                      <a:latin typeface="+mn-lt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Website</c:v>
                </c:pt>
                <c:pt idx="1">
                  <c:v>Facebook Ads</c:v>
                </c:pt>
                <c:pt idx="2">
                  <c:v>Google Form</c:v>
                </c:pt>
                <c:pt idx="3">
                  <c:v>Zalo OA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36</c:v>
                </c:pt>
                <c:pt idx="1">
                  <c:v>27</c:v>
                </c:pt>
                <c:pt idx="2">
                  <c:v>21</c:v>
                </c:pt>
                <c:pt idx="3">
                  <c:v>16</c:v>
                </c:pt>
              </c:numCache>
            </c:numRef>
          </c:val>
        </c:ser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>
              <a:solidFill>
                <a:srgbClr val="FFFFF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Số liệu lấy từ slide mẫu: tăng trưởng học viên T12/2023–T05/2024 và cơ cấu nguồn đăng ký.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UNG3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457200" y="4709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CE6F5"/>
                </a:solidFill>
              </a:rPr>
              <a:t>PTIT-Learning  |  Tính năng Lớp học ảo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6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6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chart" Target="/ppt/charts/chart1.xml"/><Relationship Id="rId6" Type="http://schemas.openxmlformats.org/officeDocument/2006/relationships/chart" Target="/ppt/charts/chart2.xml"/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NỀN TẢNG HỌC TRỰC TUYẾN DÀNH CHO MỌI NGƯỜI</a:t>
            </a:r>
            <a:endParaRPr lang="en-US" sz="2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05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</a:rPr>
              <a:t>LỢI THẾ NỔI BẬT</a:t>
            </a:r>
            <a:endParaRPr lang="en-US" sz="1400" dirty="0"/>
          </a:p>
        </p:txBody>
      </p:sp>
      <p:sp>
        <p:nvSpPr>
          <p:cNvPr id="4" name="Card 1"/>
          <p:cNvSpPr/>
          <p:nvPr/>
        </p:nvSpPr>
        <p:spPr>
          <a:xfrm>
            <a:off x="457200" y="1325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pic>
        <p:nvPicPr>
          <p:cNvPr id="5" name="Image 0" descr="Lớp học trực tuyế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389888"/>
            <a:ext cx="457200" cy="457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Lớp học trực tuyến</a:t>
            </a:r>
            <a:endParaRPr lang="en-US" sz="1200" dirty="0"/>
          </a:p>
        </p:txBody>
      </p:sp>
      <p:sp>
        <p:nvSpPr>
          <p:cNvPr id="7" name="Card 2"/>
          <p:cNvSpPr/>
          <p:nvPr/>
        </p:nvSpPr>
        <p:spPr>
          <a:xfrm>
            <a:off x="2560320" y="1325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pic>
        <p:nvPicPr>
          <p:cNvPr id="8" name="Image 1" descr="Học mọi lúc, mọi nơ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1840" y="1389888"/>
            <a:ext cx="457200" cy="45720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60604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Học mọi lúc, mọi nơi</a:t>
            </a:r>
            <a:endParaRPr lang="en-US" sz="1200" dirty="0"/>
          </a:p>
        </p:txBody>
      </p:sp>
      <p:sp>
        <p:nvSpPr>
          <p:cNvPr id="10" name="Card 3"/>
          <p:cNvSpPr/>
          <p:nvPr/>
        </p:nvSpPr>
        <p:spPr>
          <a:xfrm>
            <a:off x="4663440" y="1325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pic>
        <p:nvPicPr>
          <p:cNvPr id="11" name="Image 2" descr="Theo dõi tiến độ &amp; báo cáo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0" y="1389888"/>
            <a:ext cx="457200" cy="45720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70916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Theo dõi tiến độ &amp; báo cáo</a:t>
            </a:r>
            <a:endParaRPr lang="en-US" sz="1200" dirty="0"/>
          </a:p>
        </p:txBody>
      </p:sp>
      <p:sp>
        <p:nvSpPr>
          <p:cNvPr id="13" name="Card 4"/>
          <p:cNvSpPr/>
          <p:nvPr/>
        </p:nvSpPr>
        <p:spPr>
          <a:xfrm>
            <a:off x="6766560" y="1325880"/>
            <a:ext cx="1920240" cy="1097280"/>
          </a:xfrm>
          <a:prstGeom prst="roundRect">
            <a:avLst>
              <a:gd name="adj" fmla="val 8333"/>
            </a:avLst>
          </a:prstGeom>
          <a:solidFill>
            <a:srgbClr val="14305A"/>
          </a:solidFill>
          <a:ln w="12700">
            <a:solidFill>
              <a:srgbClr val="14305A"/>
            </a:solidFill>
            <a:prstDash val="solid"/>
          </a:ln>
        </p:spPr>
      </p:sp>
      <p:pic>
        <p:nvPicPr>
          <p:cNvPr id="14" name="Image 3" descr="Bảo mật &amp; ổn định cao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0" y="1389888"/>
            <a:ext cx="457200" cy="45720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812280" y="18745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Bảo mật &amp; ổn định cao</a:t>
            </a:r>
            <a:endParaRPr lang="en-US" sz="1200" dirty="0"/>
          </a:p>
        </p:txBody>
      </p:sp>
      <p:sp>
        <p:nvSpPr>
          <p:cNvPr id="16" name="Text 10"/>
          <p:cNvSpPr txBox="1"/>
          <p:nvPr/>
        </p:nvSpPr>
        <p:spPr>
          <a:xfrm>
            <a:off x="457200" y="25603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TĂNG TRƯỞNG HỌC VIÊN (người)</a:t>
            </a:r>
            <a:endParaRPr lang="en-US" sz="1200" dirty="0"/>
          </a:p>
        </p:txBody>
      </p:sp>
      <p:graphicFrame>
        <p:nvGraphicFramePr>
          <p:cNvPr id="17" name="Chart 0" descr=""/>
          <p:cNvGraphicFramePr/>
          <p:nvPr/>
        </p:nvGraphicFramePr>
        <p:xfrm>
          <a:off x="457200" y="2834640"/>
          <a:ext cx="475488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8" name="Text 11"/>
          <p:cNvSpPr txBox="1"/>
          <p:nvPr/>
        </p:nvSpPr>
        <p:spPr>
          <a:xfrm>
            <a:off x="5577840" y="256032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</a:rPr>
              <a:t>CƠ CẤU NGUỒN ĐĂNG KÝ</a:t>
            </a:r>
            <a:endParaRPr lang="en-US" sz="1200" dirty="0"/>
          </a:p>
        </p:txBody>
      </p:sp>
      <p:graphicFrame>
        <p:nvGraphicFramePr>
          <p:cNvPr id="19" name="Chart 1" descr=""/>
          <p:cNvGraphicFramePr/>
          <p:nvPr/>
        </p:nvGraphicFramePr>
        <p:xfrm>
          <a:off x="5577840" y="2834640"/>
          <a:ext cx="3108960" cy="1828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6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LỘ TRÌNH HỌC TẬP CỦA HỌC VIÊN</a:t>
            </a:r>
            <a:endParaRPr lang="en-US" sz="2400" dirty="0"/>
          </a:p>
        </p:txBody>
      </p:sp>
      <p:graphicFrame>
        <p:nvGraphicFramePr>
          <p:cNvPr id="3" name="Lộ trình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3566160"/>
                <a:gridCol w="2377440"/>
                <a:gridCol w="1554480"/>
              </a:tblGrid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Bước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Hoạt động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quả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0B1F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Bước kế tiếp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731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Đăng ký qua Website, Facebook Ads, Google Form hoặc Zalo OA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 Chờ xác nhận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Bước 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Xác nhận đăng ký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Trạng thái Đã xác nhận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Bước 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Tham gia lớp học trực tuyến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Vào lớp học ảo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Bước 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Học trong lớp: chat, hỏi đáp, tài liệu, bảng trắng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Nội dung buổi học, bản ghi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→ Bước 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danh và báo cáo tham gia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Điểm chuyên cần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9731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Kết thúc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B1F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305A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DCE6F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TIT Navy">
  <a:themeElements>
    <a:clrScheme name="PTIT Navy">
      <a:dk1>
        <a:srgbClr val="0B1F3A"/>
      </a:dk1>
      <a:lt1>
        <a:srgbClr val="FFFFFF"/>
      </a:lt1>
      <a:dk2>
        <a:srgbClr val="14305A"/>
      </a:dk2>
      <a:lt2>
        <a:srgbClr val="DCE6F5"/>
      </a:lt2>
      <a:accent1>
        <a:srgbClr val="F97316"/>
      </a:accent1>
      <a:accent2>
        <a:srgbClr val="38BDF8"/>
      </a:accent2>
      <a:accent3>
        <a:srgbClr val="86EFAC"/>
      </a:accent3>
      <a:accent4>
        <a:srgbClr val="FDE68A"/>
      </a:accent4>
      <a:accent5>
        <a:srgbClr val="A5B4FC"/>
      </a:accent5>
      <a:accent6>
        <a:srgbClr val="FFFFFF"/>
      </a:accent6>
      <a:hlink>
        <a:srgbClr val="F97316"/>
      </a:hlink>
      <a:folHlink>
        <a:srgbClr val="DCE6F5"/>
      </a:folHlink>
    </a:clrScheme>
    <a:fontScheme name="PTIT Navy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2026-10-26T22:16:03Z</dcterms:created>
  <dcterms:modified xsi:type="dcterms:W3CDTF">2026-10-26T22:16:03Z</dcterms:modified>
</cp:coreProperties>
</file>